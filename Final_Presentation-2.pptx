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Contract Oversight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Risk Classification Framework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Cumulative Risk Logic and Unsupervised Clustering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Update: EDA, Updated Ground Truth &amp; Initial Modeling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Akshitha Pitla  ·  Sai Krishna Grandhi  ·  Vinod Kumar Kethavath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Catholic University of America  ·  MS Data Analytics  ·  Spring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56432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456432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1129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600,862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40599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Contracts Analyzed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87168" y="3456432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3456432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351129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487168" y="40599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Departments DoD·DHS·HHS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17136" y="3456432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17136" y="3456432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7136" y="351129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17136" y="40599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High Risk 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47104" y="3456432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47104" y="3456432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51129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0.7574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47104" y="40599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XGBoost ROC AUC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502920" cy="5303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3167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55448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definition, background, motivation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83664"/>
            <a:ext cx="822960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83664"/>
            <a:ext cx="502920" cy="5303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8366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19385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217627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data cleaning, feature engineering, ground truth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822960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05456"/>
            <a:ext cx="502920" cy="5303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0545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2560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279806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unsupervised algorithms + three supervised classifiers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27248"/>
            <a:ext cx="822960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27248"/>
            <a:ext cx="502920" cy="5303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2724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8992" y="31821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341985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performance, SHAP feature importance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49040"/>
            <a:ext cx="502920" cy="5303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490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38039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78992" y="404164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Interpretation, contributions, future work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370832"/>
            <a:ext cx="822960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370832"/>
            <a:ext cx="502920" cy="5303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37083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78992" y="44256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78992" y="466344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key takeaways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INTRODUCTION — PROBLEM DEFINITION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Federal Contract Oversight Challenge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8229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$700B+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017520" y="1417320"/>
            <a:ext cx="36576" cy="59436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316736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federal government awards over $700 billion in contracts annually. With 600,000+ transactions, manual risk review is not feasible at scale.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651760" cy="25603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54864" cy="2560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23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Impossible to Review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600,000+ transactions per year.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officer can assess all contracts.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awards remain invisible.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331720"/>
            <a:ext cx="2651760" cy="25603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331720"/>
            <a:ext cx="54864" cy="2560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423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Risk Framework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880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multi-dimensional — financial,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vendor, compliance, performance.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system combines them.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2651760" cy="25603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331720"/>
            <a:ext cx="54864" cy="2560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423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Financial Exposure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880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undetected high-risk contract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represent millions in fraudulent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wasteful government spend.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INTRODUCTION — BACKGROUND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60520" cy="3474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61872"/>
            <a:ext cx="4050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This Problem Matters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4160520" cy="3291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00784"/>
            <a:ext cx="54864" cy="62179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3736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procurement fraud and waste cost taxpayers billions annually (GAO, 2024).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54864" cy="62179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871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oversight relies on manual audit sampling — covers less than 5% of contracts.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4864" cy="62179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3697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publicly available labeled dataset for federal contract risk exists.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54864" cy="62179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98678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offers a scalable, data-driven approach to systematic risk detection.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261872"/>
            <a:ext cx="3886200" cy="3474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261872"/>
            <a:ext cx="3776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Machine Learning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609344"/>
            <a:ext cx="3886200" cy="3291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700784"/>
            <a:ext cx="54864" cy="62179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173736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GAO procurement literature suggests 5–10% of federal contracts carry irregularity risk.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2450592"/>
            <a:ext cx="54864" cy="62179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48716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DoD, DHS, and HHS collectively represent the largest civilian and defense contracting spend.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3200400"/>
            <a:ext cx="54864" cy="62179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323697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USASpending.gov provides comprehensive FY2025 contract transaction data publicly.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3950208"/>
            <a:ext cx="54864" cy="62179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398678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in fraud detection (credit card, insurance) shows ML is highly effective on imbalanced tabular data.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METHODOLOGY — DATASET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FY2025 Federal Contracts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1673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600,862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Total Contracts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87168" y="1261872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261872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31673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87168" y="18653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Departments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(DoD · DHS · HHS)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17136" y="1261872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1261872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131673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17136" y="18653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Raw Columns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47104" y="1261872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47104" y="1261872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131673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47104" y="18653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Data Period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450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Risk Dimensions Identified Across 56 Engineered Features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852928"/>
            <a:ext cx="2651760" cy="8046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852928"/>
            <a:ext cx="54864" cy="8046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907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200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amounts, value gaps, outlay ratios, contract ceiling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852928"/>
            <a:ext cx="2651760" cy="8046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852928"/>
            <a:ext cx="54864" cy="8046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2907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Risk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29000" y="3200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type, pricing type, award type, number of offers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852928"/>
            <a:ext cx="2651760" cy="8046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2852928"/>
            <a:ext cx="54864" cy="8046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907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32004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FedBizOpps posting, subcontracting plans, cost pricing 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767328"/>
            <a:ext cx="2651760" cy="8046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767328"/>
            <a:ext cx="54864" cy="8046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41148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funding, SAM status, entity type, business size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46120" y="3767328"/>
            <a:ext cx="2651760" cy="8046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6120" y="3767328"/>
            <a:ext cx="54864" cy="8046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Risk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429000" y="41148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duration, NAICS code, performance dates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3767328"/>
            <a:ext cx="2651760" cy="80467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3767328"/>
            <a:ext cx="54864" cy="8046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Fraud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217920" y="41148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HUBZone, veteran, women-owned, 8(a) flag combinations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METHODOLOGY — EXPLORATORY DATA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Data Quality &amp; Financials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60520" cy="361188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4160520" cy="31089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4050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Null Value Heatmap — 293 Columns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7632"/>
            <a:ext cx="4069080" cy="2560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4242816"/>
            <a:ext cx="4069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columns are heavily null (yellow). Right-side columns (executive compensation, COVID supplements) dropped — not relevant to risk detection.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73168" y="1261872"/>
            <a:ext cx="3913632" cy="361188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73168" y="1261872"/>
            <a:ext cx="3913632" cy="31089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82896" y="1261872"/>
            <a:ext cx="3803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Financial Columns Distribution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627632"/>
            <a:ext cx="3822192" cy="2560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18888" y="4242816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financial columns are heavily right-skewed. Median near zero but outliers reach $160K+. Log transformation applied before clustering.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METHODOLOGY — EXPLORATORY DATA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Correlation &amp; Vendor Analysis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60520" cy="361188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4160520" cy="31089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4050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Obligation vs Total Dollars Obligated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7632"/>
            <a:ext cx="4069080" cy="2560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4242816"/>
            <a:ext cx="4069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= most contracts have obligation ≈ total obligated. Off-diagonal outliers (top-left) = contracts where total obligated far exceeds the action amount — a financial risk signal.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73168" y="1261872"/>
            <a:ext cx="3913632" cy="361188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73168" y="1261872"/>
            <a:ext cx="3913632" cy="31089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82896" y="1261872"/>
            <a:ext cx="3803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Business Size Distribution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664208"/>
            <a:ext cx="3182112" cy="23957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18888" y="4242816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55.2% Small Business vs 44.8% Other Than Small Business. Near-equal split raises misclassification risk — set-aside fraud is a key socioeconomic risk dimension.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METHODOLOGY — DATA CLEANING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65836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475488" cy="6583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0704" y="1316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Merge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0704" y="159105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DoD + DHS + HHS CSV files → 600,862 rows, 293 columns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4 fully null columns → 289 usable columns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65836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475488" cy="6583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11680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0704" y="2066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0704" y="234086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columns with &gt;50% null → dropped high-null columns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56 meaningful risk features across 6 dimensions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8229600" cy="65836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61488"/>
            <a:ext cx="475488" cy="6583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61488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60704" y="28163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Engineering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0704" y="309067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days_of_performance from start/end dates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modification_type prefix (STANDARD / PRICING / ADMINISTRATIVE)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11296"/>
            <a:ext cx="8229600" cy="65836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11296"/>
            <a:ext cx="475488" cy="6583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11296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0704" y="3566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Row Removal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60704" y="384048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rows with any remaining null across 56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464,385 clean rows retained (77.5% of original dataset)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61104"/>
            <a:ext cx="8229600" cy="65836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261104"/>
            <a:ext cx="475488" cy="6583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61104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60704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60704" y="459028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all 41 categorical columns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→ X matrix (464,385 × 56)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METHODOLOGY — GROUND TRUTH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— Three-Algorithm Majority Vote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42062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labels exist.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structurally different unsupervised algorithms vote independently. A contract is labeled High Risk only when 2 of 3 agree.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2651760" cy="30175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83664"/>
            <a:ext cx="2651760" cy="3474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83664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K-Means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" y="2322576"/>
            <a:ext cx="239572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contracts by feature similarity. Cluster with higher obligations and longer durations → High Risk.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" y="3785616"/>
            <a:ext cx="2395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82219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62,293 flagged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418795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 ·  Silhouette 0.486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883664"/>
            <a:ext cx="2651760" cy="30175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883664"/>
            <a:ext cx="2651760" cy="3474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883664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Isolation Forest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74136" y="2322576"/>
            <a:ext cx="239572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contract by how easily it can be isolated. Statistically anomalous contracts across any feature → flagged.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74136" y="3785616"/>
            <a:ext cx="2395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382219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37,151 flagged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74136" y="418795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8%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883664"/>
            <a:ext cx="2651760" cy="30175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883664"/>
            <a:ext cx="2651760" cy="3474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1883664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HDBSCAN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63056" y="2322576"/>
            <a:ext cx="239572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density-based clustering. Contracts with no dense neighborhood are labeled noise → High Risk.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63056" y="3785616"/>
            <a:ext cx="23957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382219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21,172 flagged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63056" y="418795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min_cluster_size=100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METHODOLOGY — GROUND TRUTH 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Distribution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40233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flag as anomalous → HIGH RISK.  All 3 agree normal → LOW RISK.  Disagreement → UNCERTAIN, excluded from training.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105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8105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18105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1810512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945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21945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219456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21945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(1)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219456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39,161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670048"/>
            <a:ext cx="8229600" cy="438912"/>
          </a:xfrm>
          <a:prstGeom prst="rect">
            <a:avLst/>
          </a:prstGeom>
          <a:solidFill>
            <a:srgbClr val="F0F3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700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26700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0" y="267004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26700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(0)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2670048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397,369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145536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14553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86000" y="314553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23360" y="31455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0" y="314553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— Excluded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0" y="3145536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27,855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3767328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767328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221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39,161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57200" y="43708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HIGH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Flagged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42032" y="3767328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42032" y="3767328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38221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397,369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2542032" y="43708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LOW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Confirmed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26864" y="3767328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26864" y="3767328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26864" y="38221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27,855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626864" y="43708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UNCERTAIN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Excluded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11696" y="3767328"/>
            <a:ext cx="1920240" cy="10058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3767328"/>
            <a:ext cx="192024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11696" y="38221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436,530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6711696" y="43708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TOTAL LABELED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</a:rPr>
              <a:t>For Training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METHODOLOGY — CLASS IMBALANCE &amp; VALIDATION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Imbalance, Validation &amp; Hyperparameter Tuning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50608" y="1399032"/>
            <a:ext cx="1417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50608" y="139903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10.15×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50608" y="185623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weight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307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— Class Weights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1636776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Low Risk vs 9% High Risk — naive model scores 91% accuracy by predicting everything Low Risk (useless).  ·  Applied balanced class weights — High Risk errors penalized 10.15× more than Low Risk.  ·  No SMOTE — class weights chosen for cleaner, noise-free training on real contracts.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68880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0608" y="2633472"/>
            <a:ext cx="1417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263347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50608" y="309067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542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80/20 Stratified Split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2871216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preserves 91/9 class ratio in both train and test sets.  ·  Training set: 349,224 rows   ·   Test set: 87,306 rows.  ·  Stratification prevents evaluation bias from imbalanced splits.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03320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0608" y="3867912"/>
            <a:ext cx="1417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38679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50608" y="432511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std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folds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776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4105656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Stratified K-Fold (5 folds × 3 repeats = 15 evaluations).  ·  Confirms model stability — XGBoost AUC 0.7574 ± 0.003 across all folds.  ·  Low std confirms results are not dependent on any single data split.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METHODOLOGY — ML PIPELINE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Pipeline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600200" cy="338328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17320"/>
            <a:ext cx="160020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17320"/>
            <a:ext cx="1490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600,862 contracts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· DHS · HHS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raw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3108960"/>
            <a:ext cx="118872" cy="0"/>
          </a:xfrm>
          <a:prstGeom prst="line">
            <a:avLst/>
          </a:prstGeom>
          <a:noFill/>
          <a:ln w="25400">
            <a:solidFill>
              <a:srgbClr val="7A8F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0552" y="1417320"/>
            <a:ext cx="1600200" cy="338328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0552" y="1417320"/>
            <a:ext cx="160020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1417320"/>
            <a:ext cx="1490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21992" y="188366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21992" y="246888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risk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variables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30752" y="3108960"/>
            <a:ext cx="118872" cy="0"/>
          </a:xfrm>
          <a:prstGeom prst="line">
            <a:avLst/>
          </a:prstGeom>
          <a:noFill/>
          <a:ln w="25400">
            <a:solidFill>
              <a:srgbClr val="7A8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9624" y="1417320"/>
            <a:ext cx="1600200" cy="338328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9624" y="1417320"/>
            <a:ext cx="160020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1417320"/>
            <a:ext cx="1490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41064" y="188366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41064" y="246888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IF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HDBSCAN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49824" y="3108960"/>
            <a:ext cx="118872" cy="0"/>
          </a:xfrm>
          <a:prstGeom prst="line">
            <a:avLst/>
          </a:prstGeom>
          <a:noFill/>
          <a:ln w="25400">
            <a:solidFill>
              <a:srgbClr val="7A8F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68696" y="1417320"/>
            <a:ext cx="1600200" cy="338328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68696" y="1417320"/>
            <a:ext cx="160020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78424" y="1417320"/>
            <a:ext cx="1490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0136" y="188366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0136" y="246888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68896" y="3108960"/>
            <a:ext cx="118872" cy="0"/>
          </a:xfrm>
          <a:prstGeom prst="line">
            <a:avLst/>
          </a:prstGeom>
          <a:noFill/>
          <a:ln w="25400">
            <a:solidFill>
              <a:srgbClr val="7A8F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87768" y="1417320"/>
            <a:ext cx="1600200" cy="338328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87768" y="1417320"/>
            <a:ext cx="1600200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97496" y="1417320"/>
            <a:ext cx="1490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79208" y="188366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79208" y="246888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+ Confusion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+ SHAP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64608"/>
            <a:ext cx="8229600" cy="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algorithms construct ground truth labels → Supervised classifiers learn to generalize risk patterns to new contracts.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RESULTS — MODEL PERFORMANCE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Performance Comparison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71016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models: 56 features  ·  80/20 stratified split  ·  Class weights applied  ·  Test set: 87,306 contracts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40233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3736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17373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17373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17373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173736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173736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139696"/>
            <a:ext cx="8229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31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4680" y="2139696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43400" y="2139696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2139696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2139696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2139696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999232"/>
            <a:ext cx="8229600" cy="786384"/>
          </a:xfrm>
          <a:prstGeom prst="rect">
            <a:avLst/>
          </a:prstGeom>
          <a:solidFill>
            <a:srgbClr val="F0F3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34381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— 200 trees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54680" y="2999232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43400" y="2999232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2999232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75120" y="2999232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89520" y="2999232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858768"/>
            <a:ext cx="8229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858768"/>
            <a:ext cx="54864" cy="78638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 ★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54680" y="3858768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343400" y="3858768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532120" y="3858768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59.1%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675120" y="3858768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89520" y="3858768"/>
            <a:ext cx="1051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0.7574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457200" y="4718304"/>
            <a:ext cx="8229600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7548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— XGBoost: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0.7574 ± 0.003  ·  Recall 59.1% ± 0.26%  ·  F1 0.42 ± 0.002  →  Stable across all folds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RESULTS — CONFUSION MATRIX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Confusion Matrix Breakdown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828800" y="1371600"/>
            <a:ext cx="4828032" cy="1901952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9875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Low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79392" y="9875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High Risk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1371600"/>
            <a:ext cx="2377440" cy="914400"/>
          </a:xfrm>
          <a:prstGeom prst="rect">
            <a:avLst/>
          </a:prstGeom>
          <a:solidFill>
            <a:srgbClr val="E8EFF6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481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69,799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28800" y="19751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9392" y="1371600"/>
            <a:ext cx="2377440" cy="914400"/>
          </a:xfrm>
          <a:prstGeom prst="rect">
            <a:avLst/>
          </a:prstGeom>
          <a:solidFill>
            <a:srgbClr val="F5E6E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9392" y="1481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9,675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279392" y="19751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2359152"/>
            <a:ext cx="2377440" cy="914400"/>
          </a:xfrm>
          <a:prstGeom prst="rect">
            <a:avLst/>
          </a:prstGeom>
          <a:solidFill>
            <a:srgbClr val="F5E6E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828800" y="29626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2359152"/>
            <a:ext cx="2377440" cy="914400"/>
          </a:xfrm>
          <a:prstGeom prst="rect">
            <a:avLst/>
          </a:prstGeom>
          <a:solidFill>
            <a:srgbClr val="E8EFF6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4,739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279392" y="29626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1371600"/>
            <a:ext cx="2331720" cy="74980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40817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4,739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83680" y="173736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contracts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flagged (TP)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2267712"/>
            <a:ext cx="2331720" cy="74980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30428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83680" y="263347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contracts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(FN) ← critical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3163824"/>
            <a:ext cx="2331720" cy="74980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2004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9,675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83680" y="352958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contracts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over-flagged (FP)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4059936"/>
            <a:ext cx="2331720" cy="749808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0965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69,799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83680" y="442569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contracts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cleared (TN)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federal oversight: FN (missed High Risk) is more costly than FP (extra review).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RESULTS — SHAP FEATURE IMPORTANCE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Drivers — SHAP Analysis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1089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8119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 8 Risk Drivers — Mean |SHAP|  (higher = stronger influence on High Risk prediction)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8229600" cy="3749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64208"/>
            <a:ext cx="329184" cy="37490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64208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17465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contract_financing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755648"/>
            <a:ext cx="1819453" cy="201168"/>
          </a:xfrm>
          <a:prstGeom prst="rect">
            <a:avLst/>
          </a:prstGeom>
          <a:solidFill>
            <a:srgbClr val="5A7A9C"/>
          </a:solidFill>
          <a:ln w="12700">
            <a:solidFill>
              <a:srgbClr val="5A7A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74650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44768" y="174650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financing (advance/progress payments) hardest to audit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8229600" cy="3749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84832"/>
            <a:ext cx="329184" cy="37490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84832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" y="21671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product_or_service_code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176272"/>
            <a:ext cx="1034451" cy="201168"/>
          </a:xfrm>
          <a:prstGeom prst="rect">
            <a:avLst/>
          </a:prstGeom>
          <a:solidFill>
            <a:srgbClr val="5A7A9C"/>
          </a:solidFill>
          <a:ln w="12700">
            <a:solidFill>
              <a:srgbClr val="5A7A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1671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44768" y="216712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consulting categories carry higher inherent risk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505456"/>
            <a:ext cx="8229600" cy="3749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505456"/>
            <a:ext cx="329184" cy="37490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05456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9536" y="25877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days_of_performance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2596896"/>
            <a:ext cx="776956" cy="201168"/>
          </a:xfrm>
          <a:prstGeom prst="rect">
            <a:avLst/>
          </a:prstGeom>
          <a:solidFill>
            <a:srgbClr val="5A7A9C"/>
          </a:solidFill>
          <a:ln w="12700">
            <a:solidFill>
              <a:srgbClr val="5A7A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58775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44768" y="258775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contracts = more exposure, harder to monitor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8229600" cy="3749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926080"/>
            <a:ext cx="329184" cy="37490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26080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" y="30083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total_dollars_obligated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91840" y="3017520"/>
            <a:ext cx="709005" cy="201168"/>
          </a:xfrm>
          <a:prstGeom prst="rect">
            <a:avLst/>
          </a:prstGeom>
          <a:solidFill>
            <a:srgbClr val="5A7A9C"/>
          </a:solidFill>
          <a:ln w="12700">
            <a:solidFill>
              <a:srgbClr val="5A7A9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30083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44768" y="300837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financial stakes correlate with High Risk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346704"/>
            <a:ext cx="8229600" cy="3749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46704"/>
            <a:ext cx="329184" cy="37490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46704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9536" y="34290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naics_code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91840" y="3438144"/>
            <a:ext cx="683971" cy="201168"/>
          </a:xfrm>
          <a:prstGeom prst="rect">
            <a:avLst/>
          </a:prstGeom>
          <a:solidFill>
            <a:srgbClr val="5A7A9C"/>
          </a:solidFill>
          <a:ln w="12700">
            <a:solidFill>
              <a:srgbClr val="5A7A9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42900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44768" y="3429000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and IT historically riskier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767328"/>
            <a:ext cx="8229600" cy="3749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3767328"/>
            <a:ext cx="329184" cy="37490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767328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9536" y="384962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potential_total_value_of_award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91840" y="3858768"/>
            <a:ext cx="527060" cy="201168"/>
          </a:xfrm>
          <a:prstGeom prst="rect">
            <a:avLst/>
          </a:prstGeom>
          <a:solidFill>
            <a:srgbClr val="5A7A9C"/>
          </a:solidFill>
          <a:ln w="12700">
            <a:solidFill>
              <a:srgbClr val="5A7A9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0" y="384962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44768" y="38496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ceiling signals potential over-commitment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187952"/>
            <a:ext cx="8229600" cy="3749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4187952"/>
            <a:ext cx="329184" cy="37490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187952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59536" y="42702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base_and_all_options_value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91840" y="4279392"/>
            <a:ext cx="473862" cy="201168"/>
          </a:xfrm>
          <a:prstGeom prst="rect">
            <a:avLst/>
          </a:prstGeom>
          <a:solidFill>
            <a:srgbClr val="5A7A9C"/>
          </a:solidFill>
          <a:ln w="12700">
            <a:solidFill>
              <a:srgbClr val="5A7A9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4270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44768" y="427024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value gap between ceiling and obligated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608576"/>
            <a:ext cx="8229600" cy="374904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4608576"/>
            <a:ext cx="329184" cy="37490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608576"/>
            <a:ext cx="32918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59536" y="46908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base_and_exercised_options_value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291840" y="4700016"/>
            <a:ext cx="435864" cy="201168"/>
          </a:xfrm>
          <a:prstGeom prst="rect">
            <a:avLst/>
          </a:prstGeom>
          <a:solidFill>
            <a:srgbClr val="5A7A9C"/>
          </a:solidFill>
          <a:ln w="12700">
            <a:solidFill>
              <a:srgbClr val="5A7A9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0" y="46908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144768" y="46908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was actually exercised vs awarded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RESULTS — BEST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 Outperforms — Class Weights Approach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977640" cy="373075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3977640" cy="3474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3867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XGBoost — Configuration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139696"/>
            <a:ext cx="384048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396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13969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10.15 (auto-computed)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542032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420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25420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no imputation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2944368"/>
            <a:ext cx="384048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443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2944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weight parameter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346704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467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metric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334670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3749040"/>
            <a:ext cx="384048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3749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151376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1513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folds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0" y="415137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81728" y="1261872"/>
            <a:ext cx="4005072" cy="373075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1728" y="1261872"/>
            <a:ext cx="4005072" cy="3474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1261872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XGBoost Wins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73168" y="17739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02352" y="17739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02352" y="208483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corrects prior tree mistakes — more sensitive to minority High Risk class than Random Forest bagging.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73168" y="25786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02352" y="25786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02352" y="288950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High Risk errors 10.15× — directly addresses class imbalance in the loss function.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73168" y="3383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02352" y="3383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Design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02352" y="369417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structured data — handles mixed feature types and missing values natively without preprocessing.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73168" y="4187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02352" y="4187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02352" y="449884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via SHAP shows which signals drove each contract's High Risk label — fully traceable.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DISCUSSION — INTERPRETATION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Results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ROC AUC 0.7574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8249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 better than random (0.50) and logistic regression (0.68). Confirms non-linear risk patterns exist in federal contract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28032" y="1261872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261872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59.1% on High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10912" y="168249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catches 6 in every 10 genuinely High Risk contracts. For oversight purposes, this means 4,739 out of 7,832 High Risk contracts in the test set were correctly flagged.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23744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32.8%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9443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100 contracts flagged, 33 are genuinely High Risk. While not high precision, the priority for oversight is recall — missing a risky contract is more costly than reviewing a clean 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28032" y="2523744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2523744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Financing as Top Driver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10912" y="29443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reveals contract financing type is the dominant risk signal (0.407 mean SHAP). Non-standard financing arrangements are the strongest predictor of High Risk.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85616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85616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Features Dominate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206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the top 15 SHAP features are financial — obligation amounts, contract values, and outlay ratios. This is consistent with GAO procurement audit findings.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28032" y="3785616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3785616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CV Folds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10912" y="4206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std of 0.003 across 5 folds confirms the model is not overfitting to a particular data split. Results are reliable and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DISCUSSION — DID WE SOLVE THE PROBLEM?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What Was Achieved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005072" cy="363931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4005072" cy="3474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Without This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17373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600,000+ contracts — no automated prioritization.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1945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awards buried — impossible to find manually.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26517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and waste signals go undetected for months.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1089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31089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wasted reviewing low-risk contracts.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5661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5661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risk methodology across agencies.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1728" y="1261872"/>
            <a:ext cx="4005072" cy="3639312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1261872"/>
            <a:ext cx="4005072" cy="34747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261872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 This System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18888" y="17373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17373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39,161 High Risk contracts flagged automatically.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18888" y="21945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21945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4,739 confirmed High Risk caught in test set (60.5%).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18888" y="26517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26517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contract traceable by Award ID and risk score.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18888" y="31089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1089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teams focus on the 8.4% that matters most.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18888" y="3566160"/>
            <a:ext cx="18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35661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risk framework applied across DoD, DHS, HHS.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51960" y="2834640"/>
            <a:ext cx="640080" cy="640080"/>
          </a:xfrm>
          <a:prstGeom prst="ellipse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DISCUSSION — NOVEL CONTRIBUTIONS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Contributions to the Field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8229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457200" cy="8229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2416" y="13350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Three-Algorithm Majority Vote Ground Truth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2416" y="16459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application of K-Means + Isolation Forest + HDBSCAN majority vote for constructing defensible ground truth labels in the absence of human-annotated federal contract risk data. Addresses a fundamental gap in public sector ML.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94560"/>
            <a:ext cx="457200" cy="8229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2416" y="22677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FY2025 Federal Contract Risk Framework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2416" y="25786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risk detection pipeline across DoD, DHS, and HHS covering 600,862 contracts. Six risk dimensions — financial, procurement, compliance, vendor, performance, socioeconomic — operationalized as ML features.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8229600" cy="8229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27248"/>
            <a:ext cx="457200" cy="8229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27248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2416" y="32004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Explainability for Procurement Oversight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2416" y="351129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SHAP (SHapley Additive exPlanations) to federal contract risk detection provides contract-level explainability. Oversight officers can see exactly which features drove each High Risk prediction.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59936"/>
            <a:ext cx="8229600" cy="82296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59936"/>
            <a:ext cx="457200" cy="8229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59936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2416" y="41330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Financing as Dominant Risk Signal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2416" y="44439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empirical finding: contract_financing type is the single strongest predictor of High Risk (SHAP 0.407), surpassing financial obligation amounts. This has not previously been quantified in federal procurement ML literature.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DISCUSSION — FUTURE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Limitations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Human-Annotated Validation 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8249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GAO or IG offices to obtain independently labeled contract risk data for genuine out-of-sample validation beyond the self-supervised ground truth.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28032" y="1261872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261872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Generalization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10912" y="168249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FY2024 data and test on FY2025 to evaluate whether risk patterns generalize across fiscal years and procurement cycles.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23744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Cross-Agency Deployment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944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pipeline to all 15 federal departments. Current model trained on DoD, DHS, HHS — test transferability to other agencies (Treasury, DOE, DOT).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28032" y="2523744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2523744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10912" y="29443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USASpending.gov API for live contract risk scoring as new awards are posted. Enable proactive rather than retrospective oversight.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85616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785616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2062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Bayesian optimization (Optuna) to tune XGBoost hyperparameters systematically. Current scale_pos_weight is computed from class ratio, not optimized.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28032" y="3785616"/>
            <a:ext cx="4114800" cy="1133856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3785616"/>
            <a:ext cx="54864" cy="11338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All Three Classifiers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10912" y="42062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LR + RF + XGBoost predictions via soft voting or stacking. LR's high recall (54%) and XGBoost's high AUC (0.76) may complement each other.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5486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54864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5331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 end-to-end ML pipeline that automatically identifies High Risk federal contracts from 600,862 FY2025 transactions across DoD, DHS, and HHS.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8229600" cy="5486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83664"/>
            <a:ext cx="54864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7510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three-algorithm majority vote (K-Means + Isolation Forest + HDBSCAN) was used to construct defensible ground truth labels without human annotation.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8229600" cy="5486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05456"/>
            <a:ext cx="54864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596896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class weights achieved ROC AUC 0.7574 (±0.003) and recall of 59.1% — the best performance across Logistic Regression, Random Forest, and XGBoost.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8229600" cy="5486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27248"/>
            <a:ext cx="54864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218688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identified contract financing type as the dominant risk driver, followed by product/service code, days of performance, and total dollars obligated.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49040"/>
            <a:ext cx="54864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84048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flagged 39,161 High Risk contracts (8.4% of 464K labeled contracts), providing a ranked, traceable list for oversight teams to act 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370832"/>
            <a:ext cx="8229600" cy="54864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70832"/>
            <a:ext cx="54864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46227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demonstrates that unsupervised ground truth construction combined with supervised classification is a viable and scalable approach to federal contract risk detection.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8FA0"/>
                </a:solidFill>
              </a:rPr>
              <a:t>REFERENCES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List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USASpending.gov (2025). FY2025 Federal Contract Transaction Data — DoD, DHS, HHS. Retrieved from https://www.usaspending.gov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824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Accountability Office (2024). Federal Contracting: Opportunities to Improve Oversight. GAO Report GAO-24-105.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T., &amp; Guestrin, C. (2016). XGBoost: A scalable tree boosting system. KDD '16. ACM.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23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2374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Campello, R. J. G. B., Moulavi, D., &amp; Sander, J. (2013). Density-based clustering based on hierarchical density estimates. PAKDD 2013.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44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9443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F. T., Ting, K. M., &amp; Zhou, Z.-H. (2008). Isolation Forest. IEEE ICDM 2008.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64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364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Lundberg, S. M., &amp; Lee, S.-I. (2017). A unified approach to interpreting model predictions. NeurIPS 2017.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856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7856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Chawla, N. V., et al. (2002). SMOTE: Synthetic minority over-sampling technique. JAIR, 16, 321–357.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F., et al. (2011). Scikit-learn: Machine learning in Python. JMLR, 12, 2825–2830.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26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62686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MacQueen, J. (1967). Some methods for classification and analysis of multivariate observations. Proc. 5th Berkeley Symposium.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84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788920"/>
            <a:ext cx="1783080" cy="14173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788920"/>
            <a:ext cx="178308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852928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600,862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493008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Contracts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2788920"/>
            <a:ext cx="1783080" cy="14173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2788920"/>
            <a:ext cx="178308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852928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06040" y="3493008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2788920"/>
            <a:ext cx="1783080" cy="14173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788920"/>
            <a:ext cx="178308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852928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0.7574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3493008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2788920"/>
            <a:ext cx="1783080" cy="1417320"/>
          </a:xfrm>
          <a:prstGeom prst="rect">
            <a:avLst/>
          </a:prstGeom>
          <a:solidFill>
            <a:srgbClr val="F5F6F8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2788920"/>
            <a:ext cx="1783080" cy="5486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852928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59.1%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29400" y="3493008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4622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 for Federal Contract Oversight Using Machine Learning  ·  FY2025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2026-04-21T14:07:16Z</dcterms:created>
  <dcterms:modified xsi:type="dcterms:W3CDTF">2026-04-21T14:07:16Z</dcterms:modified>
</cp:coreProperties>
</file>